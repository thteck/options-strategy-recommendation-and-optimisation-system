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8" r:id="rId2"/>
    <p:sldId id="256" r:id="rId3"/>
    <p:sldId id="257" r:id="rId4"/>
    <p:sldId id="259" r:id="rId5"/>
    <p:sldId id="260" r:id="rId6"/>
    <p:sldId id="262" r:id="rId7"/>
    <p:sldId id="261" r:id="rId8"/>
    <p:sldId id="278" r:id="rId9"/>
    <p:sldId id="281" r:id="rId10"/>
    <p:sldId id="266" r:id="rId11"/>
    <p:sldId id="280" r:id="rId12"/>
    <p:sldId id="283" r:id="rId13"/>
  </p:sldIdLst>
  <p:sldSz cx="12192000" cy="6858000"/>
  <p:notesSz cx="6858000" cy="91440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8070B3-3D1D-46DC-BED5-7C402AFD88AB}" v="1" dt="2026-09-29T02:58:12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y Hao Teck" userId="cc2dbf0f-e050-470c-b6d6-5116caae5c6c" providerId="ADAL" clId="{C8C30387-14B4-4CEB-9E20-9860D5844B89}"/>
    <pc:docChg chg="custSel addSld delSld modSld">
      <pc:chgData name="Tey Hao Teck" userId="cc2dbf0f-e050-470c-b6d6-5116caae5c6c" providerId="ADAL" clId="{C8C30387-14B4-4CEB-9E20-9860D5844B89}" dt="2026-09-29T02:58:14.955" v="30" actId="2696"/>
      <pc:docMkLst>
        <pc:docMk/>
      </pc:docMkLst>
      <pc:sldChg chg="delSp modSp mod modNotesTx">
        <pc:chgData name="Tey Hao Teck" userId="cc2dbf0f-e050-470c-b6d6-5116caae5c6c" providerId="ADAL" clId="{C8C30387-14B4-4CEB-9E20-9860D5844B89}" dt="2026-09-27T16:00:52.504" v="3" actId="478"/>
        <pc:sldMkLst>
          <pc:docMk/>
          <pc:sldMk cId="1018029350" sldId="256"/>
        </pc:sldMkLst>
      </pc:sldChg>
      <pc:sldChg chg="delSp mod modNotesTx">
        <pc:chgData name="Tey Hao Teck" userId="cc2dbf0f-e050-470c-b6d6-5116caae5c6c" providerId="ADAL" clId="{C8C30387-14B4-4CEB-9E20-9860D5844B89}" dt="2026-09-27T16:01:03.689" v="7" actId="20577"/>
        <pc:sldMkLst>
          <pc:docMk/>
          <pc:sldMk cId="1018029350" sldId="257"/>
        </pc:sldMkLst>
      </pc:sldChg>
      <pc:sldChg chg="delSp modSp mod modNotesTx">
        <pc:chgData name="Tey Hao Teck" userId="cc2dbf0f-e050-470c-b6d6-5116caae5c6c" providerId="ADAL" clId="{C8C30387-14B4-4CEB-9E20-9860D5844B89}" dt="2026-09-28T12:54:58.953" v="27" actId="20577"/>
        <pc:sldMkLst>
          <pc:docMk/>
          <pc:sldMk cId="1482902964" sldId="258"/>
        </pc:sldMkLst>
        <pc:spChg chg="mod">
          <ac:chgData name="Tey Hao Teck" userId="cc2dbf0f-e050-470c-b6d6-5116caae5c6c" providerId="ADAL" clId="{C8C30387-14B4-4CEB-9E20-9860D5844B89}" dt="2026-09-28T12:54:58.953" v="27" actId="20577"/>
          <ac:spMkLst>
            <pc:docMk/>
            <pc:sldMk cId="1482902964" sldId="258"/>
            <ac:spMk id="88" creationId="{9697DF69-C47D-459A-B707-6BB5E5B73825}"/>
          </ac:spMkLst>
        </pc:spChg>
      </pc:sldChg>
      <pc:sldChg chg="modNotesTx">
        <pc:chgData name="Tey Hao Teck" userId="cc2dbf0f-e050-470c-b6d6-5116caae5c6c" providerId="ADAL" clId="{C8C30387-14B4-4CEB-9E20-9860D5844B89}" dt="2026-09-27T16:01:09.319" v="8" actId="20577"/>
        <pc:sldMkLst>
          <pc:docMk/>
          <pc:sldMk cId="1018029350" sldId="259"/>
        </pc:sldMkLst>
      </pc:sldChg>
      <pc:sldChg chg="modNotesTx">
        <pc:chgData name="Tey Hao Teck" userId="cc2dbf0f-e050-470c-b6d6-5116caae5c6c" providerId="ADAL" clId="{C8C30387-14B4-4CEB-9E20-9860D5844B89}" dt="2026-09-27T16:01:14.393" v="9" actId="20577"/>
        <pc:sldMkLst>
          <pc:docMk/>
          <pc:sldMk cId="1018029350" sldId="260"/>
        </pc:sldMkLst>
      </pc:sldChg>
      <pc:sldChg chg="delSp mod modNotesTx">
        <pc:chgData name="Tey Hao Teck" userId="cc2dbf0f-e050-470c-b6d6-5116caae5c6c" providerId="ADAL" clId="{C8C30387-14B4-4CEB-9E20-9860D5844B89}" dt="2026-09-27T16:01:33.208" v="17" actId="478"/>
        <pc:sldMkLst>
          <pc:docMk/>
          <pc:sldMk cId="1018029350" sldId="261"/>
        </pc:sldMkLst>
      </pc:sldChg>
      <pc:sldChg chg="modNotesTx">
        <pc:chgData name="Tey Hao Teck" userId="cc2dbf0f-e050-470c-b6d6-5116caae5c6c" providerId="ADAL" clId="{C8C30387-14B4-4CEB-9E20-9860D5844B89}" dt="2026-09-27T16:01:18.183" v="10" actId="20577"/>
        <pc:sldMkLst>
          <pc:docMk/>
          <pc:sldMk cId="1018029350" sldId="262"/>
        </pc:sldMkLst>
      </pc:sldChg>
      <pc:sldChg chg="delSp mod modNotesTx">
        <pc:chgData name="Tey Hao Teck" userId="cc2dbf0f-e050-470c-b6d6-5116caae5c6c" providerId="ADAL" clId="{C8C30387-14B4-4CEB-9E20-9860D5844B89}" dt="2026-09-27T16:01:56.986" v="20" actId="478"/>
        <pc:sldMkLst>
          <pc:docMk/>
          <pc:sldMk cId="1018029350" sldId="266"/>
        </pc:sldMkLst>
      </pc:sldChg>
      <pc:sldChg chg="modNotesTx">
        <pc:chgData name="Tey Hao Teck" userId="cc2dbf0f-e050-470c-b6d6-5116caae5c6c" providerId="ADAL" clId="{C8C30387-14B4-4CEB-9E20-9860D5844B89}" dt="2026-09-27T16:01:38.108" v="18" actId="20577"/>
        <pc:sldMkLst>
          <pc:docMk/>
          <pc:sldMk cId="3410196480" sldId="278"/>
        </pc:sldMkLst>
      </pc:sldChg>
      <pc:sldChg chg="modSp mod modNotesTx">
        <pc:chgData name="Tey Hao Teck" userId="cc2dbf0f-e050-470c-b6d6-5116caae5c6c" providerId="ADAL" clId="{C8C30387-14B4-4CEB-9E20-9860D5844B89}" dt="2026-09-27T16:02:03.805" v="22" actId="313"/>
        <pc:sldMkLst>
          <pc:docMk/>
          <pc:sldMk cId="1653643134" sldId="280"/>
        </pc:sldMkLst>
        <pc:spChg chg="mod">
          <ac:chgData name="Tey Hao Teck" userId="cc2dbf0f-e050-470c-b6d6-5116caae5c6c" providerId="ADAL" clId="{C8C30387-14B4-4CEB-9E20-9860D5844B89}" dt="2026-09-27T16:02:03.805" v="22" actId="313"/>
          <ac:spMkLst>
            <pc:docMk/>
            <pc:sldMk cId="1653643134" sldId="280"/>
            <ac:spMk id="2" creationId="{0FAEC4C2-AA27-40A0-BD69-89915EC6FC6D}"/>
          </ac:spMkLst>
        </pc:spChg>
      </pc:sldChg>
      <pc:sldChg chg="new del">
        <pc:chgData name="Tey Hao Teck" userId="cc2dbf0f-e050-470c-b6d6-5116caae5c6c" providerId="ADAL" clId="{C8C30387-14B4-4CEB-9E20-9860D5844B89}" dt="2026-09-29T02:58:14.955" v="30" actId="2696"/>
        <pc:sldMkLst>
          <pc:docMk/>
          <pc:sldMk cId="2601699522" sldId="282"/>
        </pc:sldMkLst>
      </pc:sldChg>
      <pc:sldChg chg="add setBg">
        <pc:chgData name="Tey Hao Teck" userId="cc2dbf0f-e050-470c-b6d6-5116caae5c6c" providerId="ADAL" clId="{C8C30387-14B4-4CEB-9E20-9860D5844B89}" dt="2026-09-29T02:58:12.801" v="29"/>
        <pc:sldMkLst>
          <pc:docMk/>
          <pc:sldMk cId="186185013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>
            <a:extLst>
              <a:ext uri="{FF2B5EF4-FFF2-40B4-BE49-F238E27FC236}">
                <a16:creationId xmlns:a16="http://schemas.microsoft.com/office/drawing/2014/main" id="{08C70CEE-1D5D-4B16-B172-ACA6A0B9E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8453" y="2121318"/>
            <a:ext cx="9882135" cy="128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4400"/>
              <a:buFont typeface="Century Gothic"/>
              <a:buNone/>
              <a:defRPr sz="4400" b="1" cap="none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>
            <a:extLst>
              <a:ext uri="{FF2B5EF4-FFF2-40B4-BE49-F238E27FC236}">
                <a16:creationId xmlns:a16="http://schemas.microsoft.com/office/drawing/2014/main" id="{0526BD7C-F3FF-4DBF-8F74-0F21C79BD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8450" y="3538494"/>
            <a:ext cx="9151352" cy="46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BBBC"/>
              </a:buClr>
              <a:buSzPts val="2400"/>
              <a:buNone/>
              <a:defRPr sz="2400" b="1" cap="none">
                <a:solidFill>
                  <a:srgbClr val="33BBBC"/>
                </a:solidFill>
                <a:latin typeface="Century Gothic"/>
                <a:ea typeface="Century Gothic"/>
                <a:cs typeface="Century Gothic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>
            <a:extLst>
              <a:ext uri="{FF2B5EF4-FFF2-40B4-BE49-F238E27FC236}">
                <a16:creationId xmlns:a16="http://schemas.microsoft.com/office/drawing/2014/main" id="{753B7206-5C54-493C-A6E5-9F5C7E830E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88453" y="4127589"/>
            <a:ext cx="9129183" cy="40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>
                <a:solidFill>
                  <a:srgbClr val="7F7F7F"/>
                </a:solidFill>
                <a:latin typeface="Century Gothic"/>
                <a:ea typeface="Century Gothic"/>
                <a:cs typeface="Century Gothic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0">
            <a:extLst>
              <a:ext uri="{FF2B5EF4-FFF2-40B4-BE49-F238E27FC236}">
                <a16:creationId xmlns:a16="http://schemas.microsoft.com/office/drawing/2014/main" id="{1CE00465-78B1-4007-B211-C07D29DE6EE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4709" y="6492878"/>
            <a:ext cx="62983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>
            <a:extLst>
              <a:ext uri="{FF2B5EF4-FFF2-40B4-BE49-F238E27FC236}">
                <a16:creationId xmlns:a16="http://schemas.microsoft.com/office/drawing/2014/main" id="{90BD9384-9876-497D-B423-A9E9330D6A6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6536988" y="6492879"/>
            <a:ext cx="48168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>
            <a:extLst>
              <a:ext uri="{FF2B5EF4-FFF2-40B4-BE49-F238E27FC236}">
                <a16:creationId xmlns:a16="http://schemas.microsoft.com/office/drawing/2014/main" id="{5204E732-F22F-4496-BA0E-A379D60D21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1" name="Google Shape;22;p10"/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9782175" y="142875"/>
            <a:ext cx="2190750" cy="613861"/>
          </a:xfrm>
          <a:prstGeom prst="rect">
            <a:avLst/>
          </a:prstGeom>
          <a:ln>
            <a:noFill/>
          </a:ln>
        </p:spPr>
      </p:pic>
      <p:pic>
        <p:nvPicPr>
          <p:cNvPr id="32" name="Google Shape;23;p1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7534" y="162176"/>
            <a:ext cx="1744038" cy="676649"/>
          </a:xfrm>
          <a:prstGeom prst="rect">
            <a:avLst/>
          </a:prstGeom>
          <a:ln>
            <a:noFill/>
          </a:ln>
        </p:spPr>
      </p:pic>
      <p:pic>
        <p:nvPicPr>
          <p:cNvPr id="33" name="Google Shape;24;p1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55479" y="162176"/>
            <a:ext cx="780626" cy="88523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>
            <a:extLst>
              <a:ext uri="{FF2B5EF4-FFF2-40B4-BE49-F238E27FC236}">
                <a16:creationId xmlns:a16="http://schemas.microsoft.com/office/drawing/2014/main" id="{4D58A18A-411D-4951-999B-359EA3BDB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3200"/>
              <a:buFont typeface="Century Gothic"/>
              <a:buNone/>
              <a:defRPr sz="3200" b="1" cap="none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>
            <a:extLst>
              <a:ext uri="{FF2B5EF4-FFF2-40B4-BE49-F238E27FC236}">
                <a16:creationId xmlns:a16="http://schemas.microsoft.com/office/drawing/2014/main" id="{38A2F72C-F4EF-40E3-8DD2-35B519D8B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2208"/>
            <a:ext cx="10515600" cy="465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58220"/>
              </a:buClr>
              <a:buSzPts val="2800"/>
              <a:buChar char="•"/>
              <a:defRPr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defRPr>
            </a:lvl1pPr>
            <a:lvl2pPr marL="914400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  <a:latin typeface="Century Gothic"/>
                <a:ea typeface="Century Gothic"/>
                <a:cs typeface="Century Gothic"/>
              </a:defRPr>
            </a:lvl2pPr>
            <a:lvl3pPr marL="1371600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  <a:latin typeface="Century Gothic"/>
                <a:ea typeface="Century Gothic"/>
                <a:cs typeface="Century Gothic"/>
              </a:defRPr>
            </a:lvl3pPr>
            <a:lvl4pPr marL="1828800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─"/>
              <a:defRPr>
                <a:solidFill>
                  <a:srgbClr val="3F3F3F"/>
                </a:solidFill>
                <a:latin typeface="Century Gothic"/>
                <a:ea typeface="Century Gothic"/>
                <a:cs typeface="Century Gothic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1">
            <a:extLst>
              <a:ext uri="{FF2B5EF4-FFF2-40B4-BE49-F238E27FC236}">
                <a16:creationId xmlns:a16="http://schemas.microsoft.com/office/drawing/2014/main" id="{FCDDAD8C-9344-44D5-88B2-A507582A4EF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40509" y="6492878"/>
            <a:ext cx="6298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>
            <a:extLst>
              <a:ext uri="{FF2B5EF4-FFF2-40B4-BE49-F238E27FC236}">
                <a16:creationId xmlns:a16="http://schemas.microsoft.com/office/drawing/2014/main" id="{2F1FB889-7010-4826-B318-463C7DE59A3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7222788" y="6492879"/>
            <a:ext cx="4816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>
            <a:extLst>
              <a:ext uri="{FF2B5EF4-FFF2-40B4-BE49-F238E27FC236}">
                <a16:creationId xmlns:a16="http://schemas.microsoft.com/office/drawing/2014/main" id="{86DB8D73-622E-4EE1-BAF3-99169BA2D8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7" name="Google Shape;31;p11"/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9782175" y="142875"/>
            <a:ext cx="2190750" cy="61386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>
            <a:extLst>
              <a:ext uri="{FF2B5EF4-FFF2-40B4-BE49-F238E27FC236}">
                <a16:creationId xmlns:a16="http://schemas.microsoft.com/office/drawing/2014/main" id="{476AEFF3-5D6C-4B1B-BA7C-EBA0B4A7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3200"/>
              <a:buFont typeface="Century Gothic"/>
              <a:buNone/>
              <a:defRPr sz="3200" b="1" cap="none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>
            <a:extLst>
              <a:ext uri="{FF2B5EF4-FFF2-40B4-BE49-F238E27FC236}">
                <a16:creationId xmlns:a16="http://schemas.microsoft.com/office/drawing/2014/main" id="{6D8FA75D-ABDE-420A-B763-39F93B6F1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67032"/>
            <a:ext cx="10515600" cy="41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b="0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2">
            <a:extLst>
              <a:ext uri="{FF2B5EF4-FFF2-40B4-BE49-F238E27FC236}">
                <a16:creationId xmlns:a16="http://schemas.microsoft.com/office/drawing/2014/main" id="{4BD0D5F2-D6AE-4367-9687-5D4721EAC9C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4709" y="6492878"/>
            <a:ext cx="62983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>
            <a:extLst>
              <a:ext uri="{FF2B5EF4-FFF2-40B4-BE49-F238E27FC236}">
                <a16:creationId xmlns:a16="http://schemas.microsoft.com/office/drawing/2014/main" id="{9E8A64D2-FD72-4E30-AA4B-38B3E76CE1A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6536988" y="6492879"/>
            <a:ext cx="48168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>
            <a:extLst>
              <a:ext uri="{FF2B5EF4-FFF2-40B4-BE49-F238E27FC236}">
                <a16:creationId xmlns:a16="http://schemas.microsoft.com/office/drawing/2014/main" id="{EEC0C343-3380-4D49-A3AE-40C4CDB5FAC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4" name="Google Shape;38;p12"/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9782175" y="142875"/>
            <a:ext cx="2190750" cy="61386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>
            <a:extLst>
              <a:ext uri="{FF2B5EF4-FFF2-40B4-BE49-F238E27FC236}">
                <a16:creationId xmlns:a16="http://schemas.microsoft.com/office/drawing/2014/main" id="{9C83586D-DCEC-4398-9D5A-19158957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3200"/>
              <a:buFont typeface="Century Gothic"/>
              <a:buNone/>
              <a:defRPr sz="3200" b="1" cap="none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>
            <a:extLst>
              <a:ext uri="{FF2B5EF4-FFF2-40B4-BE49-F238E27FC236}">
                <a16:creationId xmlns:a16="http://schemas.microsoft.com/office/drawing/2014/main" id="{94292505-DE45-4B23-A0B7-92B8B74DF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7887" y="1166818"/>
            <a:ext cx="5005916" cy="41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58220"/>
              </a:buClr>
              <a:buSzPts val="2800"/>
              <a:buChar char="•"/>
              <a:defRPr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  <a:latin typeface="Century Gothic"/>
                <a:ea typeface="Century Gothic"/>
                <a:cs typeface="Century Gothic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  <a:latin typeface="Century Gothic"/>
                <a:ea typeface="Century Gothic"/>
                <a:cs typeface="Century Gothic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─"/>
              <a:defRPr>
                <a:solidFill>
                  <a:srgbClr val="3F3F3F"/>
                </a:solidFill>
                <a:latin typeface="Century Gothic"/>
                <a:ea typeface="Century Gothic"/>
                <a:cs typeface="Century Gothic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>
            <a:extLst>
              <a:ext uri="{FF2B5EF4-FFF2-40B4-BE49-F238E27FC236}">
                <a16:creationId xmlns:a16="http://schemas.microsoft.com/office/drawing/2014/main" id="{3A8DDD96-BB54-472D-A658-CDCCC559BB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8203" y="1166817"/>
            <a:ext cx="5125279" cy="41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58220"/>
              </a:buClr>
              <a:buSzPts val="2800"/>
              <a:buChar char="•"/>
              <a:defRPr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  <a:latin typeface="Century Gothic"/>
                <a:ea typeface="Century Gothic"/>
                <a:cs typeface="Century Gothic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  <a:latin typeface="Century Gothic"/>
                <a:ea typeface="Century Gothic"/>
                <a:cs typeface="Century Gothic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─"/>
              <a:defRPr>
                <a:solidFill>
                  <a:srgbClr val="3F3F3F"/>
                </a:solidFill>
                <a:latin typeface="Century Gothic"/>
                <a:ea typeface="Century Gothic"/>
                <a:cs typeface="Century Gothic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>
            <a:extLst>
              <a:ext uri="{FF2B5EF4-FFF2-40B4-BE49-F238E27FC236}">
                <a16:creationId xmlns:a16="http://schemas.microsoft.com/office/drawing/2014/main" id="{20E8884A-EAC9-486C-965F-E2AC9CCAF47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4709" y="6492878"/>
            <a:ext cx="62983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>
            <a:extLst>
              <a:ext uri="{FF2B5EF4-FFF2-40B4-BE49-F238E27FC236}">
                <a16:creationId xmlns:a16="http://schemas.microsoft.com/office/drawing/2014/main" id="{DFD71503-0329-48E9-A8C2-94A141A7C08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6536988" y="6492879"/>
            <a:ext cx="48168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>
            <a:extLst>
              <a:ext uri="{FF2B5EF4-FFF2-40B4-BE49-F238E27FC236}">
                <a16:creationId xmlns:a16="http://schemas.microsoft.com/office/drawing/2014/main" id="{7C037C8F-58FD-41B2-83A9-56FE175926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3" name="Google Shape;46;p13"/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9782175" y="142875"/>
            <a:ext cx="2190750" cy="61386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>
            <a:extLst>
              <a:ext uri="{FF2B5EF4-FFF2-40B4-BE49-F238E27FC236}">
                <a16:creationId xmlns:a16="http://schemas.microsoft.com/office/drawing/2014/main" id="{E62A1064-5B06-4607-BF74-A3832BD02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422" y="3318389"/>
            <a:ext cx="9882135" cy="128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4400"/>
              <a:buFont typeface="Century Gothic"/>
              <a:buNone/>
              <a:defRPr sz="4400" b="1" cap="none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>
            <a:extLst>
              <a:ext uri="{FF2B5EF4-FFF2-40B4-BE49-F238E27FC236}">
                <a16:creationId xmlns:a16="http://schemas.microsoft.com/office/drawing/2014/main" id="{C1450779-5600-45E5-99A5-1C3EBEC10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419" y="4778847"/>
            <a:ext cx="9151352" cy="46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BBBC"/>
              </a:buClr>
              <a:buSzPts val="2400"/>
              <a:buNone/>
              <a:defRPr sz="2400" b="1" cap="none">
                <a:solidFill>
                  <a:srgbClr val="33BBBC"/>
                </a:solidFill>
                <a:latin typeface="Century Gothic"/>
                <a:ea typeface="Century Gothic"/>
                <a:cs typeface="Century Gothic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14">
            <a:extLst>
              <a:ext uri="{FF2B5EF4-FFF2-40B4-BE49-F238E27FC236}">
                <a16:creationId xmlns:a16="http://schemas.microsoft.com/office/drawing/2014/main" id="{07BA8994-6FAE-46EA-A056-44B17639BF1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4709" y="6492878"/>
            <a:ext cx="62983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>
            <a:extLst>
              <a:ext uri="{FF2B5EF4-FFF2-40B4-BE49-F238E27FC236}">
                <a16:creationId xmlns:a16="http://schemas.microsoft.com/office/drawing/2014/main" id="{4E0F4442-9BB8-4E07-91AD-218D5203378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6536988" y="6492879"/>
            <a:ext cx="48168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>
            <a:extLst>
              <a:ext uri="{FF2B5EF4-FFF2-40B4-BE49-F238E27FC236}">
                <a16:creationId xmlns:a16="http://schemas.microsoft.com/office/drawing/2014/main" id="{E740FE50-5DC4-439D-9FEB-F8761AD492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9" name="Google Shape;53;p14"/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8001000" y="247650"/>
            <a:ext cx="3429000" cy="960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>
            <a:extLst>
              <a:ext uri="{FF2B5EF4-FFF2-40B4-BE49-F238E27FC236}">
                <a16:creationId xmlns:a16="http://schemas.microsoft.com/office/drawing/2014/main" id="{78F2D499-45CF-4F8B-9FF3-A7C03F2B2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3200"/>
              <a:buFont typeface="Century Gothic"/>
              <a:buNone/>
              <a:defRPr sz="3200" b="1" cap="none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>
            <a:extLst>
              <a:ext uri="{FF2B5EF4-FFF2-40B4-BE49-F238E27FC236}">
                <a16:creationId xmlns:a16="http://schemas.microsoft.com/office/drawing/2014/main" id="{FCA198DE-E410-492A-BDCD-6A587B7A799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4709" y="6492878"/>
            <a:ext cx="62983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>
            <a:extLst>
              <a:ext uri="{FF2B5EF4-FFF2-40B4-BE49-F238E27FC236}">
                <a16:creationId xmlns:a16="http://schemas.microsoft.com/office/drawing/2014/main" id="{63CF0329-8BE3-4D29-815A-008EEE457C7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6536988" y="6492879"/>
            <a:ext cx="48168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>
            <a:extLst>
              <a:ext uri="{FF2B5EF4-FFF2-40B4-BE49-F238E27FC236}">
                <a16:creationId xmlns:a16="http://schemas.microsoft.com/office/drawing/2014/main" id="{811FE83A-FC52-474B-8806-6CA5030318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4" name="Google Shape;59;p15"/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9782175" y="142875"/>
            <a:ext cx="2190750" cy="61386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17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>
            <a:extLst>
              <a:ext uri="{FF2B5EF4-FFF2-40B4-BE49-F238E27FC236}">
                <a16:creationId xmlns:a16="http://schemas.microsoft.com/office/drawing/2014/main" id="{555B0F35-B249-48C6-9AB7-C332C7F93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>
            <a:extLst>
              <a:ext uri="{FF2B5EF4-FFF2-40B4-BE49-F238E27FC236}">
                <a16:creationId xmlns:a16="http://schemas.microsoft.com/office/drawing/2014/main" id="{C7A4ED53-A3E5-4ECE-AB18-C4E885BC4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9">
            <a:extLst>
              <a:ext uri="{FF2B5EF4-FFF2-40B4-BE49-F238E27FC236}">
                <a16:creationId xmlns:a16="http://schemas.microsoft.com/office/drawing/2014/main" id="{7810C926-BEE5-4CEA-BE32-99CC9AB97B5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3" name="Google Shape;13;p9">
            <a:extLst>
              <a:ext uri="{FF2B5EF4-FFF2-40B4-BE49-F238E27FC236}">
                <a16:creationId xmlns:a16="http://schemas.microsoft.com/office/drawing/2014/main" id="{96955EFB-EE75-4507-84ED-B06FCB422CB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4709" y="6492878"/>
            <a:ext cx="62983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cap="none">
                <a:solidFill>
                  <a:srgbClr val="898989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9">
            <a:extLst>
              <a:ext uri="{FF2B5EF4-FFF2-40B4-BE49-F238E27FC236}">
                <a16:creationId xmlns:a16="http://schemas.microsoft.com/office/drawing/2014/main" id="{4C8F0EA4-B9C0-4786-BFFC-94214F7D94B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6536988" y="6492879"/>
            <a:ext cx="48168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98989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44e2f3230_0_7">
            <a:extLst>
              <a:ext uri="{FF2B5EF4-FFF2-40B4-BE49-F238E27FC236}">
                <a16:creationId xmlns:a16="http://schemas.microsoft.com/office/drawing/2014/main" id="{56BE38CA-1DD4-408C-9077-41B4C8BFE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762125"/>
            <a:ext cx="10515600" cy="17621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Century Gothic"/>
              <a:buNone/>
              <a:defRPr sz="382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82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Options Strategy Recommendation</a:t>
            </a:r>
            <a:endParaRPr sz="4000">
              <a:solidFill>
                <a:schemeClr val="accent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Century Gothic"/>
              <a:buNone/>
              <a:defRPr sz="382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82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and Optimization System</a:t>
            </a:r>
            <a:endParaRPr sz="4000">
              <a:solidFill>
                <a:schemeClr val="accent1"/>
              </a:solidFill>
            </a:endParaRPr>
          </a:p>
        </p:txBody>
      </p:sp>
      <p:sp>
        <p:nvSpPr>
          <p:cNvPr id="86" name="Google Shape;86;g744e2f3230_0_7">
            <a:extLst>
              <a:ext uri="{FF2B5EF4-FFF2-40B4-BE49-F238E27FC236}">
                <a16:creationId xmlns:a16="http://schemas.microsoft.com/office/drawing/2014/main" id="{5AB9F3AC-C5DC-4727-A1B2-C532B066F5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00" cy="36510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fld id="{202359C0-8A7A-196E-DD58-8E6569619F09}" type="slidenum">
              <a:rPr sz="1050" b="0">
                <a:solidFill>
                  <a:srgbClr val="7F7F7F"/>
                </a:solidFill>
                <a:latin typeface="Arial"/>
                <a:ea typeface="Arial"/>
                <a:cs typeface="Arial"/>
              </a:rPr>
              <a:t>1</a:t>
            </a:fld>
            <a:endParaRPr/>
          </a:p>
        </p:txBody>
      </p:sp>
      <p:sp>
        <p:nvSpPr>
          <p:cNvPr id="87" name="text-An explainable options analysis and">
            <a:extLst>
              <a:ext uri="{FF2B5EF4-FFF2-40B4-BE49-F238E27FC236}">
                <a16:creationId xmlns:a16="http://schemas.microsoft.com/office/drawing/2014/main" id="{26A5109F-AC25-4C88-BAA5-12F0EF3B852E}"/>
              </a:ext>
            </a:extLst>
          </p:cNvPr>
          <p:cNvSpPr>
            <a:spLocks noGrp="1"/>
          </p:cNvSpPr>
          <p:nvPr/>
        </p:nvSpPr>
        <p:spPr>
          <a:xfrm>
            <a:off x="838200" y="3705225"/>
            <a:ext cx="105156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33BBBC"/>
                </a:solidFill>
                <a:latin typeface="Century Gothic"/>
                <a:ea typeface="Century Gothic"/>
                <a:cs typeface="Century Gothic"/>
              </a:defRPr>
            </a:pPr>
            <a:r>
              <a:rPr sz="2325" b="1" u="sng">
                <a:solidFill>
                  <a:srgbClr val="33BBBC"/>
                </a:solidFill>
                <a:latin typeface="Century Gothic"/>
                <a:ea typeface="Century Gothic"/>
                <a:cs typeface="Century Gothic"/>
              </a:rPr>
              <a:t>An explainable options analysis and search pipeline</a:t>
            </a:r>
          </a:p>
        </p:txBody>
      </p:sp>
      <p:sp>
        <p:nvSpPr>
          <p:cNvPr id="88" name="text-Tey Hao Teck   /   Group 16">
            <a:extLst>
              <a:ext uri="{FF2B5EF4-FFF2-40B4-BE49-F238E27FC236}">
                <a16:creationId xmlns:a16="http://schemas.microsoft.com/office/drawing/2014/main" id="{9697DF69-C47D-459A-B707-6BB5E5B73825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10515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1" dirty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Tey Hao Teck   /   Group </a:t>
            </a:r>
            <a:r>
              <a:rPr lang="en-SG" sz="21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3</a:t>
            </a:r>
            <a:endParaRPr sz="2175" b="1">
              <a:solidFill>
                <a:srgbClr val="173F7E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89" name="text-Intelligent Reasoning Systems Pract">
            <a:extLst>
              <a:ext uri="{FF2B5EF4-FFF2-40B4-BE49-F238E27FC236}">
                <a16:creationId xmlns:a16="http://schemas.microsoft.com/office/drawing/2014/main" id="{9A4239F9-B04B-4FED-B23E-CE98280A2C3B}"/>
              </a:ext>
            </a:extLst>
          </p:cNvPr>
          <p:cNvSpPr>
            <a:spLocks noGrp="1"/>
          </p:cNvSpPr>
          <p:nvPr/>
        </p:nvSpPr>
        <p:spPr>
          <a:xfrm>
            <a:off x="838200" y="5334000"/>
            <a:ext cx="105156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0" dirty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Intelligent Reasoning Systems Practice Module</a:t>
            </a:r>
          </a:p>
          <a:p>
            <a:pPr>
              <a:defRPr sz="18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lang="en-US" sz="1875" dirty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A0362588M</a:t>
            </a:r>
            <a:endParaRPr sz="1875" b="0" dirty="0">
              <a:solidFill>
                <a:srgbClr val="404040"/>
              </a:solidFill>
              <a:latin typeface="Century Gothic"/>
              <a:ea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82902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80F7785D-6DFC-4F64-B609-13F39B61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793"/>
            <a:ext cx="8743950" cy="116205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Options give buyers a right</a:t>
            </a:r>
            <a:endParaRPr sz="288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to buy or sell an asset</a:t>
            </a:r>
            <a:endParaRPr sz="288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91E2004-3AA8-4CD5-9EC9-8D21E699CD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fld id="{AD75FED6-38D0-DE9C-92C0-6E7FA635581C}" type="slidenum">
              <a:rPr sz="1050" b="0">
                <a:solidFill>
                  <a:srgbClr val="7F7F7F"/>
                </a:solidFill>
                <a:latin typeface="Arial"/>
                <a:ea typeface="Arial"/>
                <a:cs typeface="Arial"/>
              </a:rPr>
              <a:t>2</a:t>
            </a:fld>
            <a:endParaRPr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5DE24FC-D6EA-4074-AFE3-0B5EB1D2671A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rPr>
              <a:t>CALL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1B8AE99-0650-4452-9B99-5587A62C24BE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7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Right to buy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17CED1E-C625-4101-88DE-40A58C9FAC9B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4857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2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A purchased call benefits from a rise</a:t>
            </a:r>
          </a:p>
          <a:p>
            <a:pPr>
              <a:defRPr sz="202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2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in the underlying price, all else equal.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E6ECEDC-61F0-4DAE-B7BA-7D34DC46C3CA}"/>
              </a:ext>
            </a:extLst>
          </p:cNvPr>
          <p:cNvSpPr>
            <a:spLocks noGrp="1"/>
          </p:cNvSpPr>
          <p:nvPr/>
        </p:nvSpPr>
        <p:spPr>
          <a:xfrm>
            <a:off x="6286500" y="175260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rPr>
              <a:t>PUT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057B988-FA23-4110-921E-CDA0A69C2274}"/>
              </a:ext>
            </a:extLst>
          </p:cNvPr>
          <p:cNvSpPr>
            <a:spLocks noGrp="1"/>
          </p:cNvSpPr>
          <p:nvPr/>
        </p:nvSpPr>
        <p:spPr>
          <a:xfrm>
            <a:off x="6286500" y="220980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7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Right to sell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4C84B6B-B4E4-4DD7-9FFB-41622524765B}"/>
              </a:ext>
            </a:extLst>
          </p:cNvPr>
          <p:cNvSpPr>
            <a:spLocks noGrp="1"/>
          </p:cNvSpPr>
          <p:nvPr/>
        </p:nvSpPr>
        <p:spPr>
          <a:xfrm>
            <a:off x="6286500" y="2809875"/>
            <a:ext cx="50673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2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A purchased put benefits from a fall</a:t>
            </a:r>
          </a:p>
          <a:p>
            <a:pPr>
              <a:defRPr sz="202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2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in the underlying price, all else equal.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2FFF79B-9B9D-4FE8-817C-3BDAAA09804B}"/>
              </a:ext>
            </a:extLst>
          </p:cNvPr>
          <p:cNvSpPr>
            <a:spLocks noGrp="1"/>
          </p:cNvSpPr>
          <p:nvPr/>
        </p:nvSpPr>
        <p:spPr>
          <a:xfrm>
            <a:off x="838200" y="3876675"/>
            <a:ext cx="105156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Strike = agreed price    Expiry = contract end    Premium = option price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96D63A4-15D5-4683-AC83-4DBF9DED5ED0}"/>
              </a:ext>
            </a:extLst>
          </p:cNvPr>
          <p:cNvSpPr>
            <a:spLocks noGrp="1"/>
          </p:cNvSpPr>
          <p:nvPr/>
        </p:nvSpPr>
        <p:spPr>
          <a:xfrm>
            <a:off x="838200" y="4667250"/>
            <a:ext cx="1051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Example: buy a $100 call for $5. At expiry, a $110 share price</a:t>
            </a:r>
          </a:p>
          <a:p>
            <a:pPr>
              <a:def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gives $10 intrinsic value and $5 profit per share before fees.</a:t>
            </a:r>
          </a:p>
        </p:txBody>
      </p:sp>
    </p:spTree>
    <p:extLst>
      <p:ext uri="{BB962C8B-B14F-4D97-AF65-F5344CB8AC3E}">
        <p14:creationId xmlns:p14="http://schemas.microsoft.com/office/powerpoint/2010/main" val="101802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80F7785D-6DFC-4F64-B609-13F39B61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793"/>
            <a:ext cx="8743950" cy="116205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Existing platforms help traders</a:t>
            </a:r>
            <a:endParaRPr sz="288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compare options strategies</a:t>
            </a:r>
            <a:endParaRPr sz="288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91E2004-3AA8-4CD5-9EC9-8D21E699CD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fld id="{E2598689-54C9-18A7-3A19-ED76AA08988F}" type="slidenum">
              <a:rPr sz="1050" b="0">
                <a:solidFill>
                  <a:srgbClr val="7F7F7F"/>
                </a:solidFill>
                <a:latin typeface="Arial"/>
                <a:ea typeface="Arial"/>
                <a:cs typeface="Arial"/>
              </a:rPr>
              <a:t>3</a:t>
            </a:fld>
            <a:endParaRPr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98077E4-E48B-4949-A8AC-58F91901E748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OptionStrat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28294C2-AF7A-4CDF-865D-1283DC29020A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47625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Visual strategy builder</a:t>
            </a:r>
          </a:p>
          <a:p>
            <a:pPr>
              <a:def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Potential profit and loss</a:t>
            </a:r>
          </a:p>
          <a:p>
            <a:pPr>
              <a:def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Volatility and time-decay effects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5474E52-2861-4DBA-839F-B823C61D67BA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50673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OptionsPlay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7B7BDAC-2532-4C57-9B05-AF1E4AE3677F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50673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0" dirty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Strategy recommendations</a:t>
            </a:r>
          </a:p>
          <a:p>
            <a:pPr>
              <a:def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0" dirty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Probability and risk analysis</a:t>
            </a:r>
          </a:p>
          <a:p>
            <a:pPr>
              <a:defRPr sz="21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75" b="0" dirty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Profit-and-loss projections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033856E-27B0-4CCE-B57D-45EF7888C73F}"/>
              </a:ext>
            </a:extLst>
          </p:cNvPr>
          <p:cNvSpPr>
            <a:spLocks noGrp="1"/>
          </p:cNvSpPr>
          <p:nvPr/>
        </p:nvSpPr>
        <p:spPr>
          <a:xfrm>
            <a:off x="838200" y="4381500"/>
            <a:ext cx="10515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250"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rPr>
              <a:t>This project’s focus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D9FB2FE-5E14-4ECB-972A-41523A35C253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105156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250" b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An academic prototype with inspectable reasoning,</a:t>
            </a:r>
          </a:p>
          <a:p>
            <a:pPr>
              <a:defRPr sz="2250" b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250" b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explicit payoff assumptions and testable genetic search.</a:t>
            </a:r>
          </a:p>
        </p:txBody>
      </p:sp>
    </p:spTree>
    <p:extLst>
      <p:ext uri="{BB962C8B-B14F-4D97-AF65-F5344CB8AC3E}">
        <p14:creationId xmlns:p14="http://schemas.microsoft.com/office/powerpoint/2010/main" val="101802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80F7785D-6DFC-4F64-B609-13F39B61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793"/>
            <a:ext cx="8743950" cy="116205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 dirty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A market outlook still leaves</a:t>
            </a:r>
            <a:endParaRPr sz="2880" dirty="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 dirty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many trade choices</a:t>
            </a:r>
            <a:endParaRPr sz="2880"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91E2004-3AA8-4CD5-9EC9-8D21E699CD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fld id="{EFD6AB9A-5F9E-5F59-51AB-3C8734130965}" type="slidenum">
              <a:rPr sz="1050" b="0">
                <a:solidFill>
                  <a:srgbClr val="7F7F7F"/>
                </a:solidFill>
                <a:latin typeface="Arial"/>
                <a:ea typeface="Arial"/>
                <a:cs typeface="Arial"/>
              </a:rPr>
              <a:t>4</a:t>
            </a:fld>
            <a:endParaRPr/>
          </a:p>
        </p:txBody>
      </p:sp>
      <p:sp>
        <p:nvSpPr>
          <p:cNvPr id="111" name="text-Input">
            <a:extLst>
              <a:ext uri="{FF2B5EF4-FFF2-40B4-BE49-F238E27FC236}">
                <a16:creationId xmlns:a16="http://schemas.microsoft.com/office/drawing/2014/main" id="{CFC9F476-8912-4700-8962-7A98942B1592}"/>
              </a:ext>
            </a:extLst>
          </p:cNvPr>
          <p:cNvSpPr>
            <a:spLocks noGrp="1"/>
          </p:cNvSpPr>
          <p:nvPr/>
        </p:nvSpPr>
        <p:spPr>
          <a:xfrm>
            <a:off x="847328" y="1415592"/>
            <a:ext cx="438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rPr>
              <a:t>Input</a:t>
            </a:r>
          </a:p>
        </p:txBody>
      </p:sp>
      <p:sp>
        <p:nvSpPr>
          <p:cNvPr id="112" name="text-Ticker + outlook">
            <a:extLst>
              <a:ext uri="{FF2B5EF4-FFF2-40B4-BE49-F238E27FC236}">
                <a16:creationId xmlns:a16="http://schemas.microsoft.com/office/drawing/2014/main" id="{052EDB68-EC41-4731-B758-5CB66FE89629}"/>
              </a:ext>
            </a:extLst>
          </p:cNvPr>
          <p:cNvSpPr>
            <a:spLocks noGrp="1"/>
          </p:cNvSpPr>
          <p:nvPr/>
        </p:nvSpPr>
        <p:spPr>
          <a:xfrm>
            <a:off x="922742" y="1837638"/>
            <a:ext cx="4700984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300" b="1" dirty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Ticker + outlook</a:t>
            </a:r>
          </a:p>
        </p:txBody>
      </p:sp>
      <p:sp>
        <p:nvSpPr>
          <p:cNvPr id="113" name="text-Output">
            <a:extLst>
              <a:ext uri="{FF2B5EF4-FFF2-40B4-BE49-F238E27FC236}">
                <a16:creationId xmlns:a16="http://schemas.microsoft.com/office/drawing/2014/main" id="{D303F083-753A-486F-92EC-62C0860F713E}"/>
              </a:ext>
            </a:extLst>
          </p:cNvPr>
          <p:cNvSpPr>
            <a:spLocks noGrp="1"/>
          </p:cNvSpPr>
          <p:nvPr/>
        </p:nvSpPr>
        <p:spPr>
          <a:xfrm>
            <a:off x="4981272" y="1374546"/>
            <a:ext cx="4655344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F5822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 dirty="0">
                <a:solidFill>
                  <a:srgbClr val="F58220"/>
                </a:solidFill>
                <a:latin typeface="Century Gothic"/>
                <a:ea typeface="Century Gothic"/>
                <a:cs typeface="Century Gothic"/>
              </a:rPr>
              <a:t>Output</a:t>
            </a:r>
          </a:p>
        </p:txBody>
      </p:sp>
      <p:sp>
        <p:nvSpPr>
          <p:cNvPr id="114" name="text-Explainable trade&#10;and risk estimate">
            <a:extLst>
              <a:ext uri="{FF2B5EF4-FFF2-40B4-BE49-F238E27FC236}">
                <a16:creationId xmlns:a16="http://schemas.microsoft.com/office/drawing/2014/main" id="{08FDFE56-57EA-43F6-AD10-5A5901C05606}"/>
              </a:ext>
            </a:extLst>
          </p:cNvPr>
          <p:cNvSpPr>
            <a:spLocks noGrp="1"/>
          </p:cNvSpPr>
          <p:nvPr/>
        </p:nvSpPr>
        <p:spPr>
          <a:xfrm>
            <a:off x="4981272" y="1860518"/>
            <a:ext cx="6833616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 dirty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Explainable trade</a:t>
            </a:r>
            <a:r>
              <a:rPr lang="en-SG" sz="3000" b="1" dirty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3000" b="1" dirty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and risk</a:t>
            </a:r>
            <a:r>
              <a:rPr lang="en-SG" sz="3000" b="1" dirty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3000" b="1" dirty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estimates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08B7A-167E-B128-F931-8F0259A19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2646" y="2571260"/>
            <a:ext cx="8824593" cy="403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29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80F7785D-6DFC-4F64-B609-13F39B61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793"/>
            <a:ext cx="8743950" cy="116205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Six strategy families cover</a:t>
            </a:r>
            <a:endParaRPr sz="288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two user outlooks</a:t>
            </a:r>
            <a:endParaRPr sz="288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91E2004-3AA8-4CD5-9EC9-8D21E699CD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fld id="{EE5B3003-2C54-13C6-9832-7637201064DE}" type="slidenum">
              <a:rPr sz="1050" b="0">
                <a:solidFill>
                  <a:srgbClr val="7F7F7F"/>
                </a:solidFill>
                <a:latin typeface="Arial"/>
                <a:ea typeface="Arial"/>
                <a:cs typeface="Arial"/>
              </a:rPr>
              <a:t>5</a:t>
            </a:fld>
            <a:endParaRPr/>
          </a:p>
        </p:txBody>
      </p:sp>
      <p:graphicFrame>
        <p:nvGraphicFramePr>
          <p:cNvPr id="116" name="Table 115"/>
          <p:cNvGraphicFramePr/>
          <p:nvPr/>
        </p:nvGraphicFramePr>
        <p:xfrm>
          <a:off x="838200" y="2076450"/>
          <a:ext cx="10515600" cy="30480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Bullish</a:t>
                      </a:r>
                    </a:p>
                  </a:txBody>
                  <a:tcPr marL="142875" marR="142875" marT="114300" marB="95250" anchor="ctr">
                    <a:solidFill>
                      <a:srgbClr val="173F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Bearish</a:t>
                      </a:r>
                    </a:p>
                  </a:txBody>
                  <a:tcPr marL="142875" marR="142875" marT="114300" marB="95250" anchor="ctr">
                    <a:solidFill>
                      <a:srgbClr val="173F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Bull Call Spread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Bear Put Spread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Bull Put Spread</a:t>
                      </a:r>
                    </a:p>
                  </a:txBody>
                  <a:tcPr marL="142875" marR="142875" marT="114300" marB="9525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Bear Call Spread</a:t>
                      </a:r>
                    </a:p>
                  </a:txBody>
                  <a:tcPr marL="142875" marR="142875" marT="114300" marB="95250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Long Call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Long Put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2" name="text-One ticker per request. Decision su">
            <a:extLst>
              <a:ext uri="{FF2B5EF4-FFF2-40B4-BE49-F238E27FC236}">
                <a16:creationId xmlns:a16="http://schemas.microsoft.com/office/drawing/2014/main" id="{72B83C34-C108-480C-A39E-81D720F13764}"/>
              </a:ext>
            </a:extLst>
          </p:cNvPr>
          <p:cNvSpPr>
            <a:spLocks noGrp="1"/>
          </p:cNvSpPr>
          <p:nvPr/>
        </p:nvSpPr>
        <p:spPr>
          <a:xfrm>
            <a:off x="838200" y="5486400"/>
            <a:ext cx="105156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2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One ticker per request. Decision support without trade execution.</a:t>
            </a:r>
          </a:p>
        </p:txBody>
      </p:sp>
    </p:spTree>
    <p:extLst>
      <p:ext uri="{BB962C8B-B14F-4D97-AF65-F5344CB8AC3E}">
        <p14:creationId xmlns:p14="http://schemas.microsoft.com/office/powerpoint/2010/main" val="1018029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80F7785D-6DFC-4F64-B609-13F39B61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793"/>
            <a:ext cx="8743950" cy="116205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Seven analysis stages feed</a:t>
            </a:r>
            <a:endParaRPr sz="288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the Streamlit application</a:t>
            </a:r>
            <a:endParaRPr sz="288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91E2004-3AA8-4CD5-9EC9-8D21E699CD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fld id="{D3D7D1C8-AE23-AA48-DF65-C742588DBE47}" type="slidenum">
              <a:rPr sz="1050" b="0">
                <a:solidFill>
                  <a:srgbClr val="7F7F7F"/>
                </a:solidFill>
                <a:latin typeface="Arial"/>
                <a:ea typeface="Arial"/>
                <a:cs typeface="Arial"/>
              </a:rPr>
              <a:t>6</a:t>
            </a:fld>
            <a:endParaRPr/>
          </a:p>
        </p:txBody>
      </p:sp>
      <p:sp>
        <p:nvSpPr>
          <p:cNvPr id="111" name="1  Collect data">
            <a:extLst>
              <a:ext uri="{FF2B5EF4-FFF2-40B4-BE49-F238E27FC236}">
                <a16:creationId xmlns:a16="http://schemas.microsoft.com/office/drawing/2014/main" id="{A744CA71-EB00-43E7-BBD5-30488DACDF87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2172494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1  Collect data</a:t>
            </a:r>
          </a:p>
        </p:txBody>
      </p:sp>
      <p:sp>
        <p:nvSpPr>
          <p:cNvPr id="112" name="2  Build features">
            <a:extLst>
              <a:ext uri="{FF2B5EF4-FFF2-40B4-BE49-F238E27FC236}">
                <a16:creationId xmlns:a16="http://schemas.microsoft.com/office/drawing/2014/main" id="{4463A96A-043E-41B6-8F66-AF8FFAA838A3}"/>
              </a:ext>
            </a:extLst>
          </p:cNvPr>
          <p:cNvSpPr>
            <a:spLocks noGrp="1"/>
          </p:cNvSpPr>
          <p:nvPr/>
        </p:nvSpPr>
        <p:spPr>
          <a:xfrm>
            <a:off x="3622278" y="2114550"/>
            <a:ext cx="2172494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2  Build features</a:t>
            </a:r>
          </a:p>
        </p:txBody>
      </p:sp>
      <p:sp>
        <p:nvSpPr>
          <p:cNvPr id="113" name="3  Apply rules&#10;and graph">
            <a:extLst>
              <a:ext uri="{FF2B5EF4-FFF2-40B4-BE49-F238E27FC236}">
                <a16:creationId xmlns:a16="http://schemas.microsoft.com/office/drawing/2014/main" id="{BABCEA6B-65C4-4FA9-9DE9-6B6B1545CDC5}"/>
              </a:ext>
            </a:extLst>
          </p:cNvPr>
          <p:cNvSpPr>
            <a:spLocks noGrp="1"/>
          </p:cNvSpPr>
          <p:nvPr/>
        </p:nvSpPr>
        <p:spPr>
          <a:xfrm>
            <a:off x="6406356" y="2114550"/>
            <a:ext cx="2172494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3  Apply rules</a:t>
            </a:r>
          </a:p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and graph</a:t>
            </a:r>
          </a:p>
        </p:txBody>
      </p:sp>
      <p:sp>
        <p:nvSpPr>
          <p:cNvPr id="114" name="4  Evaluate payoffs">
            <a:extLst>
              <a:ext uri="{FF2B5EF4-FFF2-40B4-BE49-F238E27FC236}">
                <a16:creationId xmlns:a16="http://schemas.microsoft.com/office/drawing/2014/main" id="{8DF62B9E-50B6-4FE3-92A5-AA2B6FCDA634}"/>
              </a:ext>
            </a:extLst>
          </p:cNvPr>
          <p:cNvSpPr>
            <a:spLocks noGrp="1"/>
          </p:cNvSpPr>
          <p:nvPr/>
        </p:nvSpPr>
        <p:spPr>
          <a:xfrm>
            <a:off x="9190434" y="2114550"/>
            <a:ext cx="2163366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4  Evaluate payoffs</a:t>
            </a:r>
          </a:p>
        </p:txBody>
      </p:sp>
      <p:cxnSp>
        <p:nvCxnSpPr>
          <p:cNvPr id="167" name="Straight Arrow Connector 166"/>
          <p:cNvCxnSpPr>
            <a:stCxn id="111" idx="3"/>
            <a:endCxn id="112" idx="1"/>
          </p:cNvCxnSpPr>
          <p:nvPr/>
        </p:nvCxnSpPr>
        <p:spPr>
          <a:xfrm>
            <a:off x="3010694" y="2562225"/>
            <a:ext cx="611584" cy="0"/>
          </a:xfrm>
          <a:prstGeom prst="straightConnector1">
            <a:avLst/>
          </a:prstGeom>
          <a:ln w="19050">
            <a:solidFill>
              <a:srgbClr val="33BBBC"/>
            </a:solidFill>
            <a:tailEnd type="triangle" w="sm" len="sm"/>
          </a:ln>
        </p:spPr>
      </p:cxnSp>
      <p:cxnSp>
        <p:nvCxnSpPr>
          <p:cNvPr id="168" name="Straight Arrow Connector 167"/>
          <p:cNvCxnSpPr>
            <a:stCxn id="112" idx="3"/>
            <a:endCxn id="113" idx="1"/>
          </p:cNvCxnSpPr>
          <p:nvPr/>
        </p:nvCxnSpPr>
        <p:spPr>
          <a:xfrm>
            <a:off x="5794772" y="2562225"/>
            <a:ext cx="611584" cy="0"/>
          </a:xfrm>
          <a:prstGeom prst="straightConnector1">
            <a:avLst/>
          </a:prstGeom>
          <a:ln w="19050">
            <a:solidFill>
              <a:srgbClr val="33BBBC"/>
            </a:solidFill>
            <a:tailEnd type="triangle" w="sm" len="sm"/>
          </a:ln>
        </p:spPr>
      </p:cxnSp>
      <p:cxnSp>
        <p:nvCxnSpPr>
          <p:cNvPr id="169" name="Straight Arrow Connector 168"/>
          <p:cNvCxnSpPr>
            <a:stCxn id="113" idx="3"/>
            <a:endCxn id="114" idx="1"/>
          </p:cNvCxnSpPr>
          <p:nvPr/>
        </p:nvCxnSpPr>
        <p:spPr>
          <a:xfrm>
            <a:off x="8578850" y="2562225"/>
            <a:ext cx="611584" cy="0"/>
          </a:xfrm>
          <a:prstGeom prst="straightConnector1">
            <a:avLst/>
          </a:prstGeom>
          <a:ln w="19050">
            <a:solidFill>
              <a:srgbClr val="33BBBC"/>
            </a:solidFill>
            <a:tailEnd type="triangle" w="sm" len="sm"/>
          </a:ln>
        </p:spPr>
      </p:cxnSp>
      <p:sp>
        <p:nvSpPr>
          <p:cNvPr id="118" name="5  Genetic search">
            <a:extLst>
              <a:ext uri="{FF2B5EF4-FFF2-40B4-BE49-F238E27FC236}">
                <a16:creationId xmlns:a16="http://schemas.microsoft.com/office/drawing/2014/main" id="{97F6351D-EE01-4C7F-A2D6-DAA56E183711}"/>
              </a:ext>
            </a:extLst>
          </p:cNvPr>
          <p:cNvSpPr>
            <a:spLocks noGrp="1"/>
          </p:cNvSpPr>
          <p:nvPr/>
        </p:nvSpPr>
        <p:spPr>
          <a:xfrm>
            <a:off x="9190434" y="4095750"/>
            <a:ext cx="2163366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5  Genetic search</a:t>
            </a:r>
          </a:p>
        </p:txBody>
      </p:sp>
      <p:sp>
        <p:nvSpPr>
          <p:cNvPr id="119" name="6  Evaluate results">
            <a:extLst>
              <a:ext uri="{FF2B5EF4-FFF2-40B4-BE49-F238E27FC236}">
                <a16:creationId xmlns:a16="http://schemas.microsoft.com/office/drawing/2014/main" id="{C2293300-83D9-4BCB-A38C-74C419EFD3EF}"/>
              </a:ext>
            </a:extLst>
          </p:cNvPr>
          <p:cNvSpPr>
            <a:spLocks noGrp="1"/>
          </p:cNvSpPr>
          <p:nvPr/>
        </p:nvSpPr>
        <p:spPr>
          <a:xfrm>
            <a:off x="6406356" y="4095750"/>
            <a:ext cx="2172494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6  Evaluate results</a:t>
            </a:r>
          </a:p>
        </p:txBody>
      </p:sp>
      <p:sp>
        <p:nvSpPr>
          <p:cNvPr id="120" name="7  Validate payload">
            <a:extLst>
              <a:ext uri="{FF2B5EF4-FFF2-40B4-BE49-F238E27FC236}">
                <a16:creationId xmlns:a16="http://schemas.microsoft.com/office/drawing/2014/main" id="{AF696A7E-A039-4A53-8803-FFC9F91D8163}"/>
              </a:ext>
            </a:extLst>
          </p:cNvPr>
          <p:cNvSpPr>
            <a:spLocks noGrp="1"/>
          </p:cNvSpPr>
          <p:nvPr/>
        </p:nvSpPr>
        <p:spPr>
          <a:xfrm>
            <a:off x="3622278" y="4095750"/>
            <a:ext cx="2172494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7  Validate payload</a:t>
            </a:r>
          </a:p>
        </p:txBody>
      </p:sp>
      <p:sp>
        <p:nvSpPr>
          <p:cNvPr id="121" name="Streamlit result">
            <a:extLst>
              <a:ext uri="{FF2B5EF4-FFF2-40B4-BE49-F238E27FC236}">
                <a16:creationId xmlns:a16="http://schemas.microsoft.com/office/drawing/2014/main" id="{C8E6DF7D-CDDB-43F2-B4EC-BDE948B46745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2172494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Streamlit result</a:t>
            </a:r>
          </a:p>
        </p:txBody>
      </p:sp>
      <p:cxnSp>
        <p:nvCxnSpPr>
          <p:cNvPr id="174" name="Straight Arrow Connector 173"/>
          <p:cNvCxnSpPr>
            <a:stCxn id="114" idx="2"/>
            <a:endCxn id="118" idx="0"/>
          </p:cNvCxnSpPr>
          <p:nvPr/>
        </p:nvCxnSpPr>
        <p:spPr>
          <a:xfrm>
            <a:off x="10272117" y="3009900"/>
            <a:ext cx="0" cy="1085850"/>
          </a:xfrm>
          <a:prstGeom prst="straightConnector1">
            <a:avLst/>
          </a:prstGeom>
          <a:ln w="19050">
            <a:solidFill>
              <a:srgbClr val="33BBBC"/>
            </a:solidFill>
            <a:tailEnd type="triangle" w="sm" len="sm"/>
          </a:ln>
        </p:spPr>
      </p:cxnSp>
      <p:cxnSp>
        <p:nvCxnSpPr>
          <p:cNvPr id="175" name="Straight Arrow Connector 174"/>
          <p:cNvCxnSpPr>
            <a:stCxn id="118" idx="1"/>
            <a:endCxn id="119" idx="3"/>
          </p:cNvCxnSpPr>
          <p:nvPr/>
        </p:nvCxnSpPr>
        <p:spPr>
          <a:xfrm flipH="1">
            <a:off x="8578850" y="4543425"/>
            <a:ext cx="611584" cy="0"/>
          </a:xfrm>
          <a:prstGeom prst="straightConnector1">
            <a:avLst/>
          </a:prstGeom>
          <a:ln w="19050">
            <a:solidFill>
              <a:srgbClr val="33BBBC"/>
            </a:solidFill>
            <a:tailEnd type="triangle" w="sm" len="sm"/>
          </a:ln>
        </p:spPr>
      </p:cxnSp>
      <p:cxnSp>
        <p:nvCxnSpPr>
          <p:cNvPr id="176" name="Straight Arrow Connector 175"/>
          <p:cNvCxnSpPr>
            <a:stCxn id="119" idx="1"/>
            <a:endCxn id="120" idx="3"/>
          </p:cNvCxnSpPr>
          <p:nvPr/>
        </p:nvCxnSpPr>
        <p:spPr>
          <a:xfrm flipH="1">
            <a:off x="5794772" y="4543425"/>
            <a:ext cx="611584" cy="0"/>
          </a:xfrm>
          <a:prstGeom prst="straightConnector1">
            <a:avLst/>
          </a:prstGeom>
          <a:ln w="19050">
            <a:solidFill>
              <a:srgbClr val="33BBBC"/>
            </a:solidFill>
            <a:tailEnd type="triangle" w="sm" len="sm"/>
          </a:ln>
        </p:spPr>
      </p:cxnSp>
      <p:cxnSp>
        <p:nvCxnSpPr>
          <p:cNvPr id="177" name="Straight Arrow Connector 176"/>
          <p:cNvCxnSpPr>
            <a:stCxn id="120" idx="1"/>
            <a:endCxn id="121" idx="3"/>
          </p:cNvCxnSpPr>
          <p:nvPr/>
        </p:nvCxnSpPr>
        <p:spPr>
          <a:xfrm flipH="1">
            <a:off x="3010694" y="4543425"/>
            <a:ext cx="611584" cy="0"/>
          </a:xfrm>
          <a:prstGeom prst="straightConnector1">
            <a:avLst/>
          </a:prstGeom>
          <a:ln w="19050">
            <a:solidFill>
              <a:srgbClr val="33BBBC"/>
            </a:solidFill>
            <a:tailEnd type="triangle" w="sm" len="sm"/>
          </a:ln>
        </p:spPr>
      </p:cxnSp>
      <p:sp>
        <p:nvSpPr>
          <p:cNvPr id="126" name="text-Runtime: Notebooks 1–7. Application">
            <a:extLst>
              <a:ext uri="{FF2B5EF4-FFF2-40B4-BE49-F238E27FC236}">
                <a16:creationId xmlns:a16="http://schemas.microsoft.com/office/drawing/2014/main" id="{3CAFD6FC-7934-4173-96FD-C9070C876E40}"/>
              </a:ext>
            </a:extLst>
          </p:cNvPr>
          <p:cNvSpPr>
            <a:spLocks noGrp="1"/>
          </p:cNvSpPr>
          <p:nvPr/>
        </p:nvSpPr>
        <p:spPr>
          <a:xfrm>
            <a:off x="838200" y="6153150"/>
            <a:ext cx="10040938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Runtime: Notebooks 1–7. Application generation is separate from each analysis request.</a:t>
            </a:r>
          </a:p>
        </p:txBody>
      </p:sp>
    </p:spTree>
    <p:extLst>
      <p:ext uri="{BB962C8B-B14F-4D97-AF65-F5344CB8AC3E}">
        <p14:creationId xmlns:p14="http://schemas.microsoft.com/office/powerpoint/2010/main" val="101802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80F7785D-6DFC-4F64-B609-13F39B61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793"/>
            <a:ext cx="8743950" cy="116205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Established methods support</a:t>
            </a:r>
            <a:endParaRPr sz="288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reasoning and search</a:t>
            </a:r>
            <a:endParaRPr sz="288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91E2004-3AA8-4CD5-9EC9-8D21E699CD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fld id="{8C630A04-5A25-9E0C-9436-126091DB86B3}" type="slidenum">
              <a:rPr sz="1050" b="0">
                <a:solidFill>
                  <a:srgbClr val="7F7F7F"/>
                </a:solidFill>
                <a:latin typeface="Arial"/>
                <a:ea typeface="Arial"/>
                <a:cs typeface="Arial"/>
              </a:rPr>
              <a:t>7</a:t>
            </a:fld>
            <a:endParaRPr/>
          </a:p>
        </p:txBody>
      </p:sp>
      <p:sp>
        <p:nvSpPr>
          <p:cNvPr id="111" name="text-Knowledge graph">
            <a:extLst>
              <a:ext uri="{FF2B5EF4-FFF2-40B4-BE49-F238E27FC236}">
                <a16:creationId xmlns:a16="http://schemas.microsoft.com/office/drawing/2014/main" id="{BDB3974D-923B-4D22-8FE0-58A961186F32}"/>
              </a:ext>
            </a:extLst>
          </p:cNvPr>
          <p:cNvSpPr>
            <a:spLocks noGrp="1"/>
          </p:cNvSpPr>
          <p:nvPr/>
        </p:nvSpPr>
        <p:spPr>
          <a:xfrm>
            <a:off x="847328" y="2190750"/>
            <a:ext cx="3194844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2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Knowledge graph</a:t>
            </a:r>
          </a:p>
        </p:txBody>
      </p:sp>
      <p:sp>
        <p:nvSpPr>
          <p:cNvPr id="112" name="text-Monte Carlo">
            <a:extLst>
              <a:ext uri="{FF2B5EF4-FFF2-40B4-BE49-F238E27FC236}">
                <a16:creationId xmlns:a16="http://schemas.microsoft.com/office/drawing/2014/main" id="{A40ACDDD-5743-4FBA-826F-1151BDB3457B}"/>
              </a:ext>
            </a:extLst>
          </p:cNvPr>
          <p:cNvSpPr>
            <a:spLocks noGrp="1"/>
          </p:cNvSpPr>
          <p:nvPr/>
        </p:nvSpPr>
        <p:spPr>
          <a:xfrm>
            <a:off x="4452938" y="2190750"/>
            <a:ext cx="3194844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2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Monte Carlo</a:t>
            </a:r>
          </a:p>
        </p:txBody>
      </p:sp>
      <p:sp>
        <p:nvSpPr>
          <p:cNvPr id="113" name="text-Genetic algorithm">
            <a:extLst>
              <a:ext uri="{FF2B5EF4-FFF2-40B4-BE49-F238E27FC236}">
                <a16:creationId xmlns:a16="http://schemas.microsoft.com/office/drawing/2014/main" id="{9BA2B71C-0F4F-401D-B07A-93E683ABF5B5}"/>
              </a:ext>
            </a:extLst>
          </p:cNvPr>
          <p:cNvSpPr>
            <a:spLocks noGrp="1"/>
          </p:cNvSpPr>
          <p:nvPr/>
        </p:nvSpPr>
        <p:spPr>
          <a:xfrm>
            <a:off x="8058547" y="2190750"/>
            <a:ext cx="3194844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2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Genetic algorithm</a:t>
            </a:r>
          </a:p>
        </p:txBody>
      </p:sp>
      <p:sp>
        <p:nvSpPr>
          <p:cNvPr id="114" name="text-Represents strategy&#10;relationships">
            <a:extLst>
              <a:ext uri="{FF2B5EF4-FFF2-40B4-BE49-F238E27FC236}">
                <a16:creationId xmlns:a16="http://schemas.microsoft.com/office/drawing/2014/main" id="{D4084796-9231-432F-8210-12A4E44671BA}"/>
              </a:ext>
            </a:extLst>
          </p:cNvPr>
          <p:cNvSpPr>
            <a:spLocks noGrp="1"/>
          </p:cNvSpPr>
          <p:nvPr/>
        </p:nvSpPr>
        <p:spPr>
          <a:xfrm>
            <a:off x="847328" y="3190875"/>
            <a:ext cx="3194844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0" dirty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Represents strategy</a:t>
            </a:r>
          </a:p>
          <a:p>
            <a:pPr algn="l">
              <a:buNone/>
              <a:def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0" dirty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relationships</a:t>
            </a:r>
          </a:p>
        </p:txBody>
      </p:sp>
      <p:sp>
        <p:nvSpPr>
          <p:cNvPr id="115" name="text-Estimates payoff&#10;uncertainty">
            <a:extLst>
              <a:ext uri="{FF2B5EF4-FFF2-40B4-BE49-F238E27FC236}">
                <a16:creationId xmlns:a16="http://schemas.microsoft.com/office/drawing/2014/main" id="{D74DAF6F-5194-4B16-97F6-435103CC4920}"/>
              </a:ext>
            </a:extLst>
          </p:cNvPr>
          <p:cNvSpPr>
            <a:spLocks noGrp="1"/>
          </p:cNvSpPr>
          <p:nvPr/>
        </p:nvSpPr>
        <p:spPr>
          <a:xfrm>
            <a:off x="4452938" y="3190875"/>
            <a:ext cx="3194844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Estimates payoff</a:t>
            </a:r>
          </a:p>
          <a:p>
            <a:pPr algn="l">
              <a:buNone/>
              <a:def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uncertainty</a:t>
            </a:r>
          </a:p>
        </p:txBody>
      </p:sp>
      <p:sp>
        <p:nvSpPr>
          <p:cNvPr id="116" name="text-Searches contract&#10;combinations">
            <a:extLst>
              <a:ext uri="{FF2B5EF4-FFF2-40B4-BE49-F238E27FC236}">
                <a16:creationId xmlns:a16="http://schemas.microsoft.com/office/drawing/2014/main" id="{27953C81-4901-4FDD-9F78-F6E47C579B49}"/>
              </a:ext>
            </a:extLst>
          </p:cNvPr>
          <p:cNvSpPr>
            <a:spLocks noGrp="1"/>
          </p:cNvSpPr>
          <p:nvPr/>
        </p:nvSpPr>
        <p:spPr>
          <a:xfrm>
            <a:off x="8058547" y="3190875"/>
            <a:ext cx="3194844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Searches contract</a:t>
            </a:r>
          </a:p>
          <a:p>
            <a:pPr algn="l">
              <a:buNone/>
              <a:def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combinations</a:t>
            </a:r>
          </a:p>
        </p:txBody>
      </p:sp>
      <p:sp>
        <p:nvSpPr>
          <p:cNvPr id="117" name="text-Contribution: one traceable decisio">
            <a:extLst>
              <a:ext uri="{FF2B5EF4-FFF2-40B4-BE49-F238E27FC236}">
                <a16:creationId xmlns:a16="http://schemas.microsoft.com/office/drawing/2014/main" id="{B1E00993-1B10-41BE-AEA8-6B6C12B16224}"/>
              </a:ext>
            </a:extLst>
          </p:cNvPr>
          <p:cNvSpPr>
            <a:spLocks noGrp="1"/>
          </p:cNvSpPr>
          <p:nvPr/>
        </p:nvSpPr>
        <p:spPr>
          <a:xfrm>
            <a:off x="847328" y="5038725"/>
            <a:ext cx="10406063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Contribution: one traceable decision-support pipeline</a:t>
            </a:r>
          </a:p>
        </p:txBody>
      </p:sp>
    </p:spTree>
    <p:extLst>
      <p:ext uri="{BB962C8B-B14F-4D97-AF65-F5344CB8AC3E}">
        <p14:creationId xmlns:p14="http://schemas.microsoft.com/office/powerpoint/2010/main" val="1018029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82175" y="142888"/>
            <a:ext cx="2190750" cy="6138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C675C4-4CEA-40CC-AE4F-4665925B7FAA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87630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1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Domain knowledge connects outlook to strategy families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C15205-88EB-445C-BAE1-CF79C574465E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62626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00" b="0">
                <a:solidFill>
                  <a:srgbClr val="626262"/>
                </a:solidFill>
                <a:latin typeface="Century Gothic"/>
                <a:ea typeface="Century Gothic"/>
                <a:cs typeface="Century Gothic"/>
              </a:rPr>
              <a:t>04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81222" y="1409700"/>
            <a:ext cx="942955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96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DA11-507D-7D5D-958C-FC74B0B9D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Monte Carlo to estimate payoffs uncertainty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66C9D-6A88-0856-BD3F-516F92E82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627FA-A085-C547-335D-27945F8BFC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F82B9E-97D6-3CCF-762A-51FD59AE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60" y="796394"/>
            <a:ext cx="10831437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44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80F7785D-6DFC-4F64-B609-13F39B61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793"/>
            <a:ext cx="8743950" cy="116205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Genetic search balances</a:t>
            </a:r>
            <a:endParaRPr sz="288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F7E"/>
              </a:buClr>
              <a:buSzPts val="2880"/>
              <a:buFont typeface="Century Gothic"/>
              <a:buNone/>
              <a:def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six competing objectives</a:t>
            </a:r>
            <a:endParaRPr sz="288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91E2004-3AA8-4CD5-9EC9-8D21E699CD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37776" y="6492879"/>
            <a:ext cx="754224" cy="3651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fld id="{30394428-F1DC-E5F6-DB0C-7DE31F3D8A23}" type="slidenum">
              <a:rPr sz="1050" b="0">
                <a:solidFill>
                  <a:srgbClr val="7F7F7F"/>
                </a:solidFill>
                <a:latin typeface="Arial"/>
                <a:ea typeface="Arial"/>
                <a:cs typeface="Arial"/>
              </a:rPr>
              <a:t>10</a:t>
            </a:fld>
            <a:endParaRPr/>
          </a:p>
        </p:txBody>
      </p:sp>
      <p:sp>
        <p:nvSpPr>
          <p:cNvPr id="111" name="Strategy">
            <a:extLst>
              <a:ext uri="{FF2B5EF4-FFF2-40B4-BE49-F238E27FC236}">
                <a16:creationId xmlns:a16="http://schemas.microsoft.com/office/drawing/2014/main" id="{3D53200B-FD1A-4232-9E3D-CE31A6F57699}"/>
              </a:ext>
            </a:extLst>
          </p:cNvPr>
          <p:cNvSpPr>
            <a:spLocks noGrp="1"/>
          </p:cNvSpPr>
          <p:nvPr/>
        </p:nvSpPr>
        <p:spPr>
          <a:xfrm>
            <a:off x="838200" y="2009775"/>
            <a:ext cx="2464594" cy="676275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Strategy</a:t>
            </a:r>
          </a:p>
        </p:txBody>
      </p:sp>
      <p:sp>
        <p:nvSpPr>
          <p:cNvPr id="112" name="Expiry">
            <a:extLst>
              <a:ext uri="{FF2B5EF4-FFF2-40B4-BE49-F238E27FC236}">
                <a16:creationId xmlns:a16="http://schemas.microsoft.com/office/drawing/2014/main" id="{30392D13-1F04-4D22-8036-251C2B20E83B}"/>
              </a:ext>
            </a:extLst>
          </p:cNvPr>
          <p:cNvSpPr>
            <a:spLocks noGrp="1"/>
          </p:cNvSpPr>
          <p:nvPr/>
        </p:nvSpPr>
        <p:spPr>
          <a:xfrm>
            <a:off x="3521869" y="2009775"/>
            <a:ext cx="2464594" cy="676275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Expiry</a:t>
            </a:r>
          </a:p>
        </p:txBody>
      </p:sp>
      <p:sp>
        <p:nvSpPr>
          <p:cNvPr id="113" name="Long strike">
            <a:extLst>
              <a:ext uri="{FF2B5EF4-FFF2-40B4-BE49-F238E27FC236}">
                <a16:creationId xmlns:a16="http://schemas.microsoft.com/office/drawing/2014/main" id="{3819C1B2-7B68-4B1A-8CB8-1CABB7FCBCC8}"/>
              </a:ext>
            </a:extLst>
          </p:cNvPr>
          <p:cNvSpPr>
            <a:spLocks noGrp="1"/>
          </p:cNvSpPr>
          <p:nvPr/>
        </p:nvSpPr>
        <p:spPr>
          <a:xfrm>
            <a:off x="6205538" y="2009775"/>
            <a:ext cx="2464594" cy="676275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Long strike</a:t>
            </a:r>
          </a:p>
        </p:txBody>
      </p:sp>
      <p:sp>
        <p:nvSpPr>
          <p:cNvPr id="114" name="Short strike">
            <a:extLst>
              <a:ext uri="{FF2B5EF4-FFF2-40B4-BE49-F238E27FC236}">
                <a16:creationId xmlns:a16="http://schemas.microsoft.com/office/drawing/2014/main" id="{E5F27910-F0DB-4614-A74D-BF763BBEFC29}"/>
              </a:ext>
            </a:extLst>
          </p:cNvPr>
          <p:cNvSpPr>
            <a:spLocks noGrp="1"/>
          </p:cNvSpPr>
          <p:nvPr/>
        </p:nvSpPr>
        <p:spPr>
          <a:xfrm>
            <a:off x="8889206" y="2009775"/>
            <a:ext cx="2464594" cy="676275"/>
          </a:xfrm>
          <a:prstGeom prst="rect">
            <a:avLst/>
          </a:prstGeom>
          <a:solidFill>
            <a:srgbClr val="FFFFFF"/>
          </a:solidFill>
          <a:ln w="19050">
            <a:solidFill>
              <a:srgbClr val="33BBBC"/>
            </a:solidFill>
          </a:ln>
        </p:spPr>
        <p:txBody>
          <a:bodyPr lIns="123825" tIns="95250" rIns="123825" bIns="95250" anchor="ctr">
            <a:noAutofit/>
          </a:bodyPr>
          <a:lstStyle/>
          <a:p>
            <a:pPr algn="ctr">
              <a:buNone/>
              <a:def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Short strike</a:t>
            </a:r>
          </a:p>
        </p:txBody>
      </p:sp>
      <p:graphicFrame>
        <p:nvGraphicFramePr>
          <p:cNvPr id="124" name="Table 123"/>
          <p:cNvGraphicFramePr/>
          <p:nvPr/>
        </p:nvGraphicFramePr>
        <p:xfrm>
          <a:off x="838200" y="3248025"/>
          <a:ext cx="10515600" cy="2381252"/>
        </p:xfrm>
        <a:graphic>
          <a:graphicData uri="http://schemas.openxmlformats.org/drawingml/2006/table">
            <a:tbl>
              <a:tblPr/>
              <a:tblGrid>
                <a:gridCol w="3779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Fitness component</a:t>
                      </a:r>
                    </a:p>
                  </a:txBody>
                  <a:tcPr marL="142875" marR="142875" marT="114300" marB="95250" anchor="ctr">
                    <a:solidFill>
                      <a:srgbClr val="173F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Weight</a:t>
                      </a:r>
                    </a:p>
                  </a:txBody>
                  <a:tcPr marL="142875" marR="142875" marT="114300" marB="95250" anchor="ctr">
                    <a:solidFill>
                      <a:srgbClr val="173F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Fitness component</a:t>
                      </a:r>
                    </a:p>
                  </a:txBody>
                  <a:tcPr marL="142875" marR="142875" marT="114300" marB="95250" anchor="ctr">
                    <a:solidFill>
                      <a:srgbClr val="173F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Weight</a:t>
                      </a:r>
                    </a:p>
                  </a:txBody>
                  <a:tcPr marL="142875" marR="142875" marT="114300" marB="95250" anchor="ctr">
                    <a:solidFill>
                      <a:srgbClr val="173F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Net return on risk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30%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Capital efficiency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10%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Profit probability</a:t>
                      </a:r>
                    </a:p>
                  </a:txBody>
                  <a:tcPr marL="142875" marR="142875" marT="114300" marB="9525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20%</a:t>
                      </a:r>
                    </a:p>
                  </a:txBody>
                  <a:tcPr marL="142875" marR="142875" marT="114300" marB="9525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Liquidity</a:t>
                      </a:r>
                    </a:p>
                  </a:txBody>
                  <a:tcPr marL="142875" marR="142875" marT="114300" marB="9525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15%</a:t>
                      </a:r>
                    </a:p>
                  </a:txBody>
                  <a:tcPr marL="142875" marR="142875" marT="114300" marB="95250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Downside protection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15%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Rule alignment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404040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10%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029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82175" y="142888"/>
            <a:ext cx="2190750" cy="6138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AEC4C2-AA27-40A0-BD69-89915EC6FC6D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87630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3150" b="1" dirty="0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Normalization converts unlike measures into a 0–100 score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0D081D-71C9-4FCB-BA7D-584327F4F51D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62626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00" b="0">
                <a:solidFill>
                  <a:srgbClr val="626262"/>
                </a:solidFill>
                <a:latin typeface="Century Gothic"/>
                <a:ea typeface="Century Gothic"/>
                <a:cs typeface="Century Gothic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24980-8F54-4F85-BD45-E639CA78D958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5156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400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s = [clip(x, P5, P95) − P5] / (P95 − P5)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0E4A9C-F56D-4397-AC8E-361258F00270}"/>
              </a:ext>
            </a:extLst>
          </p:cNvPr>
          <p:cNvSpPr>
            <a:spLocks noGrp="1"/>
          </p:cNvSpPr>
          <p:nvPr/>
        </p:nvSpPr>
        <p:spPr>
          <a:xfrm>
            <a:off x="838200" y="221932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rPr>
              <a:t>Reverse with 1 − s when lower is better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AD3A74-1997-46BD-B03C-11933A84CA0E}"/>
              </a:ext>
            </a:extLst>
          </p:cNvPr>
          <p:cNvSpPr>
            <a:spLocks noGrp="1"/>
          </p:cNvSpPr>
          <p:nvPr/>
        </p:nvSpPr>
        <p:spPr>
          <a:xfrm>
            <a:off x="838200" y="2924175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defRPr>
            </a:pPr>
            <a:r>
              <a:rPr sz="2475" b="1">
                <a:solidFill>
                  <a:srgbClr val="173F7E"/>
                </a:solidFill>
                <a:latin typeface="Century Gothic"/>
                <a:ea typeface="Century Gothic"/>
                <a:cs typeface="Century Gothic"/>
              </a:rPr>
              <a:t>Fitness = 100 × Σ(weight × normalised score)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ADB3A6-406E-4013-8FBF-E50E79CA0CA9}"/>
              </a:ext>
            </a:extLst>
          </p:cNvPr>
          <p:cNvSpPr>
            <a:spLocks noGrp="1"/>
          </p:cNvSpPr>
          <p:nvPr/>
        </p:nvSpPr>
        <p:spPr>
          <a:xfrm>
            <a:off x="4933950" y="4086225"/>
            <a:ext cx="64198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0">
                <a:solidFill>
                  <a:srgbClr val="404040"/>
                </a:solidFill>
                <a:latin typeface="Century Gothic"/>
                <a:ea typeface="Century Gothic"/>
                <a:cs typeface="Century Gothic"/>
              </a:defRPr>
            </a:pPr>
            <a:endParaRPr sz="2100" b="0" dirty="0">
              <a:solidFill>
                <a:srgbClr val="404040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E98F4E-D49D-283B-8241-2F0BE427D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" y="3791624"/>
            <a:ext cx="11119104" cy="230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43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C6AC164-F915-427A-87B8-CBC7CFEE48DF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8572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D407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D4074"/>
                </a:solidFill>
                <a:latin typeface="Arial"/>
                <a:ea typeface="Arial"/>
                <a:cs typeface="Arial"/>
              </a:rPr>
              <a:t>Backtesting the recommendations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15FBEB-8C6D-44FC-81C7-77361420D536}"/>
              </a:ext>
            </a:extLst>
          </p:cNvPr>
          <p:cNvSpPr>
            <a:spLocks noGrp="1"/>
          </p:cNvSpPr>
          <p:nvPr/>
        </p:nvSpPr>
        <p:spPr>
          <a:xfrm>
            <a:off x="914400" y="118110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24242"/>
                </a:solidFill>
                <a:latin typeface="Arial"/>
                <a:ea typeface="Arial"/>
                <a:cs typeface="Arial"/>
              </a:rPr>
              <a:t>Proposed evaluation using historical option data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78906" t="21124" r="9323" b="72674"/>
          <a:stretch/>
        </p:blipFill>
        <p:spPr>
          <a:xfrm>
            <a:off x="9848850" y="238125"/>
            <a:ext cx="2057400" cy="5810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86CDCC-8783-4061-934F-6D32CFD25103}"/>
              </a:ext>
            </a:extLst>
          </p:cNvPr>
          <p:cNvSpPr>
            <a:spLocks noGrp="1"/>
          </p:cNvSpPr>
          <p:nvPr/>
        </p:nvSpPr>
        <p:spPr>
          <a:xfrm>
            <a:off x="914400" y="190500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D407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4074"/>
                </a:solidFill>
                <a:latin typeface="Arial"/>
                <a:ea typeface="Arial"/>
                <a:cs typeface="Arial"/>
              </a:rPr>
              <a:t>Historical test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9F816-36AA-4E9B-9026-8C1D44E4486A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D40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D4074"/>
                </a:solidFill>
                <a:latin typeface="Arial"/>
                <a:ea typeface="Arial"/>
                <a:cs typeface="Arial"/>
              </a:rPr>
              <a:t>1. Generate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FE18CA-379A-4A4B-9735-662CB6B10B64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5048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4242"/>
                </a:solidFill>
                <a:latin typeface="Arial"/>
                <a:ea typeface="Arial"/>
                <a:cs typeface="Arial"/>
              </a:rPr>
              <a:t>Use only data available on each test date.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129CD2-0749-4460-BD65-1D90C5E3A5E2}"/>
              </a:ext>
            </a:extLst>
          </p:cNvPr>
          <p:cNvSpPr>
            <a:spLocks noGrp="1"/>
          </p:cNvSpPr>
          <p:nvPr/>
        </p:nvSpPr>
        <p:spPr>
          <a:xfrm>
            <a:off x="914400" y="321945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D40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D4074"/>
                </a:solidFill>
                <a:latin typeface="Arial"/>
                <a:ea typeface="Arial"/>
                <a:cs typeface="Arial"/>
              </a:rPr>
              <a:t>2. Simulate entry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E6895-93AE-45E3-BAFD-93B0364FA1F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5048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4242"/>
                </a:solidFill>
                <a:latin typeface="Arial"/>
                <a:ea typeface="Arial"/>
                <a:cs typeface="Arial"/>
              </a:rPr>
              <a:t>Use historical option quotes and costs.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3E5589-24C0-41FA-89C6-1A8B00EC2EE5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D40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D4074"/>
                </a:solidFill>
                <a:latin typeface="Arial"/>
                <a:ea typeface="Arial"/>
                <a:cs typeface="Arial"/>
              </a:rPr>
              <a:t>3. Calculate outcome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A1914B-A2BA-40BB-81BE-C1A211F624FA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5048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4242"/>
                </a:solidFill>
                <a:latin typeface="Arial"/>
                <a:ea typeface="Arial"/>
                <a:cs typeface="Arial"/>
              </a:rPr>
              <a:t>Measure net profit or loss at expiry.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DD869A-55F1-4756-9F2F-163ECF47AAA1}"/>
              </a:ext>
            </a:extLst>
          </p:cNvPr>
          <p:cNvSpPr>
            <a:spLocks noGrp="1"/>
          </p:cNvSpPr>
          <p:nvPr/>
        </p:nvSpPr>
        <p:spPr>
          <a:xfrm>
            <a:off x="914400" y="470535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D40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D4074"/>
                </a:solidFill>
                <a:latin typeface="Arial"/>
                <a:ea typeface="Arial"/>
                <a:cs typeface="Arial"/>
              </a:rPr>
              <a:t>4. Repeat and compare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8C814F-AFD3-4A08-B8FA-3E0806984827}"/>
              </a:ext>
            </a:extLst>
          </p:cNvPr>
          <p:cNvSpPr>
            <a:spLocks noGrp="1"/>
          </p:cNvSpPr>
          <p:nvPr/>
        </p:nvSpPr>
        <p:spPr>
          <a:xfrm>
            <a:off x="914400" y="5019675"/>
            <a:ext cx="5048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4242"/>
                </a:solidFill>
                <a:latin typeface="Arial"/>
                <a:ea typeface="Arial"/>
                <a:cs typeface="Arial"/>
              </a:rPr>
              <a:t>Test GA and rule-only methods on the</a:t>
            </a:r>
          </a:p>
          <a:p>
            <a:pPr>
              <a:defRPr sz="1650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4242"/>
                </a:solidFill>
                <a:latin typeface="Arial"/>
                <a:ea typeface="Arial"/>
                <a:cs typeface="Arial"/>
              </a:rPr>
              <a:t>same dates, outlooks and expiry horizons.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98D908-B7C9-44B8-841B-8148D12402B6}"/>
              </a:ext>
            </a:extLst>
          </p:cNvPr>
          <p:cNvSpPr>
            <a:spLocks noGrp="1"/>
          </p:cNvSpPr>
          <p:nvPr/>
        </p:nvSpPr>
        <p:spPr>
          <a:xfrm>
            <a:off x="6667500" y="1905000"/>
            <a:ext cx="4572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D407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4074"/>
                </a:solidFill>
                <a:latin typeface="Arial"/>
                <a:ea typeface="Arial"/>
                <a:cs typeface="Arial"/>
              </a:rPr>
              <a:t>Main metric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7831D3-D544-48E6-8B41-7D3BEF55D15D}"/>
              </a:ext>
            </a:extLst>
          </p:cNvPr>
          <p:cNvSpPr>
            <a:spLocks noGrp="1"/>
          </p:cNvSpPr>
          <p:nvPr/>
        </p:nvSpPr>
        <p:spPr>
          <a:xfrm>
            <a:off x="6667500" y="2466975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D407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074"/>
                </a:solidFill>
                <a:latin typeface="Arial"/>
                <a:ea typeface="Arial"/>
                <a:cs typeface="Arial"/>
              </a:rPr>
              <a:t>Average realised return on risk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98E203-ACA7-424B-9A64-F8B3B31C4F0E}"/>
              </a:ext>
            </a:extLst>
          </p:cNvPr>
          <p:cNvSpPr>
            <a:spLocks noGrp="1"/>
          </p:cNvSpPr>
          <p:nvPr/>
        </p:nvSpPr>
        <p:spPr>
          <a:xfrm>
            <a:off x="6667500" y="3209925"/>
            <a:ext cx="45243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24242"/>
                </a:solidFill>
                <a:latin typeface="Arial"/>
                <a:ea typeface="Arial"/>
                <a:cs typeface="Arial"/>
              </a:rPr>
              <a:t>Per trade: net profit or loss after costs</a:t>
            </a:r>
          </a:p>
          <a:p>
            <a:pPr>
              <a:defRPr sz="1800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24242"/>
                </a:solidFill>
                <a:latin typeface="Arial"/>
                <a:ea typeface="Arial"/>
                <a:cs typeface="Arial"/>
              </a:rPr>
              <a:t>÷ maximum risk at entry × 100%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7C54A1-69B6-4E0F-9839-FFD02348F1F8}"/>
              </a:ext>
            </a:extLst>
          </p:cNvPr>
          <p:cNvSpPr>
            <a:spLocks noGrp="1"/>
          </p:cNvSpPr>
          <p:nvPr/>
        </p:nvSpPr>
        <p:spPr>
          <a:xfrm>
            <a:off x="6667500" y="4219575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D4074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D4074"/>
                </a:solidFill>
                <a:latin typeface="Arial"/>
                <a:ea typeface="Arial"/>
                <a:cs typeface="Arial"/>
              </a:rPr>
              <a:t>Supporting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78882A-E76A-40A9-A160-54C4D619B08B}"/>
              </a:ext>
            </a:extLst>
          </p:cNvPr>
          <p:cNvSpPr>
            <a:spLocks noGrp="1"/>
          </p:cNvSpPr>
          <p:nvPr/>
        </p:nvSpPr>
        <p:spPr>
          <a:xfrm>
            <a:off x="6667500" y="4619625"/>
            <a:ext cx="45243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424242"/>
                </a:solidFill>
                <a:latin typeface="Arial"/>
                <a:ea typeface="Arial"/>
                <a:cs typeface="Arial"/>
              </a:rPr>
              <a:t>Win rate and number of trades</a:t>
            </a:r>
          </a:p>
          <a:p>
            <a:pPr>
              <a:defRPr sz="1725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424242"/>
                </a:solidFill>
                <a:latin typeface="Arial"/>
                <a:ea typeface="Arial"/>
                <a:cs typeface="Arial"/>
              </a:rPr>
              <a:t>Improvement over the rule-only baseline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573ED9-BEA8-468B-9EC7-386F10F39478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3810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618501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73F7E"/>
      </a:accent1>
      <a:accent2>
        <a:srgbClr val="F58220"/>
      </a:accent2>
      <a:accent3>
        <a:srgbClr val="404040"/>
      </a:accent3>
      <a:accent4>
        <a:srgbClr val="33BBBC"/>
      </a:accent4>
      <a:accent5>
        <a:srgbClr val="7F7F7F"/>
      </a:accent5>
      <a:accent6>
        <a:srgbClr val="FFFFFF"/>
      </a:accent6>
      <a:hlink>
        <a:srgbClr val="173F7E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73F7E"/>
      </a:accent1>
      <a:accent2>
        <a:srgbClr val="F58220"/>
      </a:accent2>
      <a:accent3>
        <a:srgbClr val="404040"/>
      </a:accent3>
      <a:accent4>
        <a:srgbClr val="33BBBC"/>
      </a:accent4>
      <a:accent5>
        <a:srgbClr val="7F7F7F"/>
      </a:accent5>
      <a:accent6>
        <a:srgbClr val="FFFFFF"/>
      </a:accent6>
      <a:hlink>
        <a:srgbClr val="173F7E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513</Words>
  <Application>Microsoft Office PowerPoint</Application>
  <DocSecurity>0</DocSecurity>
  <PresentationFormat>Widescreen</PresentationFormat>
  <Paragraphs>132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Arial</vt:lpstr>
      <vt:lpstr>Theme1</vt:lpstr>
      <vt:lpstr>Options Strategy Recommendation and Optimization System</vt:lpstr>
      <vt:lpstr>Options give buyers a right to buy or sell an asset</vt:lpstr>
      <vt:lpstr>Existing platforms help traders compare options strategies</vt:lpstr>
      <vt:lpstr>A market outlook still leaves many trade choices</vt:lpstr>
      <vt:lpstr>Six strategy families cover two user outlooks</vt:lpstr>
      <vt:lpstr>Seven analysis stages feed the Streamlit application</vt:lpstr>
      <vt:lpstr>Established methods support reasoning and search</vt:lpstr>
      <vt:lpstr>PowerPoint Presentation</vt:lpstr>
      <vt:lpstr>Monte Carlo to estimate payoffs uncertainty</vt:lpstr>
      <vt:lpstr>Genetic search balances six competing objectives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Tey Hao Teck</cp:lastModifiedBy>
  <cp:revision>1</cp:revision>
  <dcterms:created xsi:type="dcterms:W3CDTF">2026-09-22T22:32:19Z</dcterms:created>
  <dcterms:modified xsi:type="dcterms:W3CDTF">2026-09-29T02:58:17Z</dcterms:modified>
</cp:coreProperties>
</file>